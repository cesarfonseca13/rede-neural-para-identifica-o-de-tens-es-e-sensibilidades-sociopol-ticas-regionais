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898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589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FALE: 'Boa tarde! Somos o Cesar, o Matheus e o Vinicius. Nosso trabalho responde uma pergunta simples: dá pra um computador olhar um município brasileiro e adivinhar quão alfabetizada é a sua população? Vamos mostrar como fizemos isso com uma rede neural e os dados do Censo 2022, em cerca de 12 minutos.'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FALE: 'A apresentação segue 7 partes, exatamente o que foi pedido.' Passe rápido (15s).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FALE: 'Cada município tem uma taxa de alfabetização. Queremos que o computador PREVEJA essa taxa olhando apenas o perfil do município — região, tamanho, urbanização e idade da população. Como prevemos um número, é um problema de regressão. Exemplo: município pequeno do interior do Nordeste, população mais velha, o modelo chuta algo perto de 80%.'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FALE: 'Alfabetização é um termômetro de desenvolvimento. O Brasil é muito desigual entre regiões, e entender isso tem valor prático. No fim, o modelo vira uma ferramenta: aponta municípios que alfabetizam menos do que o esperado para o perfil deles — onde olhar primeiro.'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FALE: 'Os dados são oficiais: Censo 2022 do IBGE, todos os 5.570 municípios. Cada linha é um município, cada coluna uma informação. Usamos duas planilhas: uma com região, área e população, outra com a alfabetização por faixa de idade.'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FALE: 'O alvo é a taxa de alfabetização: quem sabe ler dividido pelo total de adultos. Um cuidado que valoriza o trabalho: VALIDAMOS o cálculo. Nossa taxa nacional deu 93,2%, e bate com o oficial do IBGE, 93%. Ou seja, interpretamos os dados corretamente.'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FALE: 'Antes de modelar, já dá pra ver algo forte: a alfabetização muda muito por região. Cada caixa é uma região; a linha do meio é a taxa típica. Sul perto de 95%, Nordeste perto de 80%. Guardem isso: a região vai ser a peça mais importante do modelo.'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FALE: 'Estas são as pistas: região, tamanho e densidade, e a estrutura de idade. Todas simples de explicar. Importante: isso não é cola — nenhuma pista é a alfabetização em si; elas descrevem o perfil. Então o modelo realmente aprende a relação.'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FALE: 'Pensem na rede neural como um aluno artificial. Ela recebe as pistas, combina em etapas (camadas) e dá um palpite. A gente mostra milhares de municípios com gabarito e ela aprende sozinha. A nossa tem duas camadas, de 64 e 32. É como um aluno que estuda com gabarito e depois acerta casos novos.'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FALE: 'E o código é simples assim. Importamos o MLPRegressor do scikit-learn e criamos o modelo. A linha mais importante é a hidden_layer_sizes=(64, 32): é AQUI que definimos as camadas da rede — uma com 64 neurônios e outra com 32. As outras linhas são ajustes: a ativação ReLU, o otimizador adam, a regularização alpha para não decorar, e o early stopping que para o treino sozinho. No fim, o .fit() é o comando que efetivamente treina a rede com os dados.' Se o professor pedir, abra o notebook nessa célula.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FALE: 'Para aprender e não decorar, fazemos três coisas. Treino e teste: aprende com 80% e é avaliado nos 20% que nunca viu. Padronização: tudo na mesma escala. E freios contra decorar. O gráfico mostra o treino saudável: erro caindo, acerto subindo e estabilizando.'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FALE: 'Pergunta comum: por que não CNN ou RNN? Cada uma serve para um tipo de dado. CNN é para imagens, RNN para sequências no tempo. Nossos dados são uma tabela de um único ano. A rede certa para tabela é a MLP. Escolher a ferramenta certa faz parte do trabalho.'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FALE: 'Duas métricas principais. O R² é uma nota de 0 a 100% de quanto o modelo explica o padrão. O MAE diz, em média, quantos pontos ele erra. E o mais importante: comparamos com réguas simples. A rede só vale a pena se vencer essas réguas.'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FALE: 'Resultado principal: a nota R² da rede foi 0,80 e venceu todas as réguas. Reparem que a média da região sozinha já dá 0,69 — isso responde a pergunta clássica: a rede não é só a média das regiões, ela vai além. E confirmamos com validação cruzada, testando em 5 divisões diferentes.'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FALE: 'Aqui o modelo funcionando município a município. Eixo horizontal: taxa real; vertical: a prevista. Se acertasse na mosca, o ponto cairia na linha vermelha. A nuvem está colada na linha — erro médio de só 2,6 pontos percentuais. Se der tempo, posso rodar ao vivo no notebook.'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FALE: 'Dá pra abrir a caixa-preta: bagunçamos uma pista por vez e vemos o quanto o modelo piora. Bagunçou a região e ele piora muito? Então a região é importante. E foi isso: região domina, depois a estrutura de idade. Confirma que alfabetização no Brasil é, antes de tudo, regional.'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FALE: 'Concluindo: a alfabetização é fortemente regional; prevemos a taxa com R² de 0,80; a rede superou os modelos simples; e os fatores que mais pesam são região e idade. Sendo honestos: é um retrato de 2022, é descritivo (não prova causa) e vale para municípios, não pessoas. Próximos passos: incluir renda e saneamento e comparar com outros modelos. Obrigado!'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FALE: 'Obrigado! Ficamos à disposição para perguntas.' Tenha o GUIA_DEFESA.md em 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9144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Prevendo a alfabetização dos municípios brasileiros com uma rede neural</a:t>
            </a:r>
          </a:p>
          <a:p>
            <a:r>
              <a:rPr sz="1800" b="0" i="1">
                <a:solidFill>
                  <a:srgbClr val="CFDCEC"/>
                </a:solidFill>
                <a:latin typeface="Calibri"/>
              </a:rPr>
              <a:t>Uma rede neural simples (MLP) aplicada ao Censo 2022 (IBGE)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698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 dirty="0">
                <a:solidFill>
                  <a:srgbClr val="232933"/>
                </a:solidFill>
                <a:latin typeface="Calibri"/>
              </a:rPr>
              <a:t>Equipe: Cesar Fonseca  ·  Matheus Lima</a:t>
            </a:r>
          </a:p>
          <a:p>
            <a:r>
              <a:rPr sz="1600" b="0" i="0" dirty="0" err="1">
                <a:solidFill>
                  <a:srgbClr val="55616E"/>
                </a:solidFill>
                <a:latin typeface="Calibri"/>
              </a:rPr>
              <a:t>Disciplina</a:t>
            </a:r>
            <a:r>
              <a:rPr sz="1600" b="0" i="0" dirty="0">
                <a:solidFill>
                  <a:srgbClr val="55616E"/>
                </a:solidFill>
                <a:latin typeface="Calibri"/>
              </a:rPr>
              <a:t>: </a:t>
            </a:r>
            <a:r>
              <a:rPr sz="1600" b="0" i="0" dirty="0" err="1">
                <a:solidFill>
                  <a:srgbClr val="55616E"/>
                </a:solidFill>
                <a:latin typeface="Calibri"/>
              </a:rPr>
              <a:t>Tópicos</a:t>
            </a:r>
            <a:r>
              <a:rPr sz="1600" b="0" i="0" dirty="0">
                <a:solidFill>
                  <a:srgbClr val="55616E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55616E"/>
                </a:solidFill>
                <a:latin typeface="Calibri"/>
              </a:rPr>
              <a:t>em</a:t>
            </a:r>
            <a:r>
              <a:rPr sz="1600" b="0" i="0" dirty="0">
                <a:solidFill>
                  <a:srgbClr val="55616E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55616E"/>
                </a:solidFill>
                <a:latin typeface="Calibri"/>
              </a:rPr>
              <a:t>Aprendizado</a:t>
            </a:r>
            <a:r>
              <a:rPr sz="1600" b="0" i="0" dirty="0">
                <a:solidFill>
                  <a:srgbClr val="55616E"/>
                </a:solidFill>
                <a:latin typeface="Calibri"/>
              </a:rPr>
              <a:t> Profundo (Deep Learning)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500" b="1" i="0">
                <a:solidFill>
                  <a:srgbClr val="FFFFFF"/>
                </a:solidFill>
                <a:latin typeface="Calibri"/>
              </a:rPr>
              <a:t>O que vamos mostrar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55616E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875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100" b="0" i="0">
                <a:solidFill>
                  <a:srgbClr val="232933"/>
                </a:solidFill>
                <a:latin typeface="Calibri"/>
              </a:rPr>
              <a:t>•  1. O problema — o que queremos descobrir</a:t>
            </a:r>
          </a:p>
          <a:p>
            <a:pPr>
              <a:spcAft>
                <a:spcPts val="700"/>
              </a:spcAft>
            </a:pPr>
            <a:r>
              <a:rPr sz="2100" b="0" i="0">
                <a:solidFill>
                  <a:srgbClr val="232933"/>
                </a:solidFill>
                <a:latin typeface="Calibri"/>
              </a:rPr>
              <a:t>•  2. Motivação — por que isso importa</a:t>
            </a:r>
          </a:p>
          <a:p>
            <a:pPr>
              <a:spcAft>
                <a:spcPts val="700"/>
              </a:spcAft>
            </a:pPr>
            <a:r>
              <a:rPr sz="2100" b="0" i="0">
                <a:solidFill>
                  <a:srgbClr val="232933"/>
                </a:solidFill>
                <a:latin typeface="Calibri"/>
              </a:rPr>
              <a:t>•  3. Os dados — o Censo 2022 do IBGE</a:t>
            </a:r>
          </a:p>
          <a:p>
            <a:pPr>
              <a:spcAft>
                <a:spcPts val="700"/>
              </a:spcAft>
            </a:pPr>
            <a:r>
              <a:rPr sz="2100" b="0" i="0">
                <a:solidFill>
                  <a:srgbClr val="232933"/>
                </a:solidFill>
                <a:latin typeface="Calibri"/>
              </a:rPr>
              <a:t>•  4. O modelo — o que é a rede neural que usamos</a:t>
            </a:r>
          </a:p>
          <a:p>
            <a:pPr>
              <a:spcAft>
                <a:spcPts val="700"/>
              </a:spcAft>
            </a:pPr>
            <a:r>
              <a:rPr sz="2100" b="0" i="0">
                <a:solidFill>
                  <a:srgbClr val="232933"/>
                </a:solidFill>
                <a:latin typeface="Calibri"/>
              </a:rPr>
              <a:t>•  5. As métricas — como medimos se deu certo</a:t>
            </a:r>
          </a:p>
          <a:p>
            <a:pPr>
              <a:spcAft>
                <a:spcPts val="700"/>
              </a:spcAft>
            </a:pPr>
            <a:r>
              <a:rPr sz="2100" b="0" i="0">
                <a:solidFill>
                  <a:srgbClr val="232933"/>
                </a:solidFill>
                <a:latin typeface="Calibri"/>
              </a:rPr>
              <a:t>•  6. Demonstração — os resultados, gráfico a gráfico</a:t>
            </a:r>
          </a:p>
          <a:p>
            <a:pPr>
              <a:spcAft>
                <a:spcPts val="700"/>
              </a:spcAft>
            </a:pPr>
            <a:r>
              <a:rPr sz="2100" b="0" i="0">
                <a:solidFill>
                  <a:srgbClr val="232933"/>
                </a:solidFill>
                <a:latin typeface="Calibri"/>
              </a:rPr>
              <a:t>•  7. Conclusões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500" b="1" i="0">
                <a:solidFill>
                  <a:srgbClr val="FFFFFF"/>
                </a:solidFill>
                <a:latin typeface="Calibri"/>
              </a:rPr>
              <a:t>1. O problema: o que queremos descobrir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55616E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 i="0">
                <a:solidFill>
                  <a:srgbClr val="232933"/>
                </a:solidFill>
                <a:latin typeface="Calibri"/>
              </a:rPr>
              <a:t>•  Cada município tem uma taxa de alfabetização (% de adultos que sabem ler e escrever).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232933"/>
                </a:solidFill>
                <a:latin typeface="Calibri"/>
              </a:rPr>
              <a:t>•  Queremos que o computador PREVEJA essa taxa olhando só o 'perfil' do município: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55616E"/>
                </a:solidFill>
                <a:latin typeface="Calibri"/>
              </a:rPr>
              <a:t>      –  em que região fica, qual o tamanho, quão urbano é, a idade da população.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200400"/>
            <a:ext cx="11155680" cy="1280160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bIns="109728" rtlCol="0" anchor="ctr"/>
          <a:lstStyle/>
          <a:p>
            <a:pPr algn="ctr"/>
            <a:r>
              <a:rPr sz="1700" b="1" i="0">
                <a:solidFill>
                  <a:srgbClr val="1F3A5F"/>
                </a:solidFill>
                <a:latin typeface="Calibri"/>
              </a:rPr>
              <a:t>💡 Em palavras simples: </a:t>
            </a:r>
            <a:r>
              <a:rPr sz="1700" b="0" i="0">
                <a:solidFill>
                  <a:srgbClr val="232933"/>
                </a:solidFill>
                <a:latin typeface="Calibri"/>
              </a:rPr>
              <a:t>damos ao computador a 'ficha' de um município (sem dizer a alfabetização) e pedimos que ele dê um palpite da taxa. Como o que queremos prever é um NÚMERO (ex.: 84%), isso se chama REGRESSÃO.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709160"/>
            <a:ext cx="11155680" cy="914400"/>
          </a:xfrm>
          <a:prstGeom prst="roundRect">
            <a:avLst/>
          </a:prstGeom>
          <a:solidFill>
            <a:srgbClr val="E7F3EA"/>
          </a:solidFill>
          <a:ln w="15875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bIns="109728" rtlCol="0" anchor="ctr"/>
          <a:lstStyle/>
          <a:p>
            <a:pPr algn="ctr"/>
            <a:r>
              <a:rPr sz="1700" b="1" i="0">
                <a:solidFill>
                  <a:srgbClr val="2E7D46"/>
                </a:solidFill>
                <a:latin typeface="Calibri"/>
              </a:rPr>
              <a:t>🎯 Exemplo: </a:t>
            </a:r>
            <a:r>
              <a:rPr sz="1700" b="0" i="0">
                <a:solidFill>
                  <a:srgbClr val="232933"/>
                </a:solidFill>
                <a:latin typeface="Calibri"/>
              </a:rPr>
              <a:t>'Município pequeno, do interior do Nordeste, população mais velha' → o modelo prevê algo como 80%.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500" b="1" i="0">
                <a:solidFill>
                  <a:srgbClr val="FFFFFF"/>
                </a:solidFill>
                <a:latin typeface="Calibri"/>
              </a:rPr>
              <a:t>2. Motivação: por que isso importa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55616E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 i="0">
                <a:solidFill>
                  <a:srgbClr val="232933"/>
                </a:solidFill>
                <a:latin typeface="Calibri"/>
              </a:rPr>
              <a:t>•  Alfabetização é um dos melhores 'termômetros' de desenvolvimento e desigualdade.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232933"/>
                </a:solidFill>
                <a:latin typeface="Calibri"/>
              </a:rPr>
              <a:t>•  O Brasil é muito desigual entre regiões — entender o que explica isso tem valor real.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232933"/>
                </a:solidFill>
                <a:latin typeface="Calibri"/>
              </a:rPr>
              <a:t>•  Se sabemos o que 'puxa' a alfabetização, podemos identificar municípios que precisam de atenção.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232933"/>
                </a:solidFill>
                <a:latin typeface="Calibri"/>
              </a:rPr>
              <a:t>•  Está dentro do tema que enviamos ao professor (usar redes neurais sobre o Censo 2022).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023360"/>
            <a:ext cx="11155680" cy="1371600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bIns="109728" rtlCol="0" anchor="ctr"/>
          <a:lstStyle/>
          <a:p>
            <a:pPr algn="ctr"/>
            <a:r>
              <a:rPr sz="1700" b="1" i="0">
                <a:solidFill>
                  <a:srgbClr val="1F3A5F"/>
                </a:solidFill>
                <a:latin typeface="Calibri"/>
              </a:rPr>
              <a:t>💡 Em palavras simples: </a:t>
            </a:r>
            <a:r>
              <a:rPr sz="1700" b="0" i="0">
                <a:solidFill>
                  <a:srgbClr val="232933"/>
                </a:solidFill>
                <a:latin typeface="Calibri"/>
              </a:rPr>
              <a:t>não é só um exercício de faculdade: o modelo vira uma ferramenta que aponta quais municípios alfabetizam menos do que o esperado para o seu perfil — ou seja, onde olhar primeiro.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500" b="1" i="0">
                <a:solidFill>
                  <a:srgbClr val="FFFFFF"/>
                </a:solidFill>
                <a:latin typeface="Calibri"/>
              </a:rPr>
              <a:t>3. Os dados: o Censo 2022 do IBGE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55616E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 i="0">
                <a:solidFill>
                  <a:srgbClr val="232933"/>
                </a:solidFill>
                <a:latin typeface="Calibri"/>
              </a:rPr>
              <a:t>•  Fonte oficial: Censo Demográfico 2022 (IBGE).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232933"/>
                </a:solidFill>
                <a:latin typeface="Calibri"/>
              </a:rPr>
              <a:t>•  Cobertura: TODOS os 5.570 municípios do Brasil.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232933"/>
                </a:solidFill>
                <a:latin typeface="Calibri"/>
              </a:rPr>
              <a:t>•  Usamos 2 planilhas: uma com região/área/população, outra com alfabetização por idade.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383280"/>
            <a:ext cx="11155680" cy="1188720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bIns="109728" rtlCol="0" anchor="ctr"/>
          <a:lstStyle/>
          <a:p>
            <a:pPr algn="ctr"/>
            <a:r>
              <a:rPr sz="1700" b="1" i="0">
                <a:solidFill>
                  <a:srgbClr val="1F3A5F"/>
                </a:solidFill>
                <a:latin typeface="Calibri"/>
              </a:rPr>
              <a:t>💡 Em palavras simples: </a:t>
            </a:r>
            <a:r>
              <a:rPr sz="1700" b="0" i="0">
                <a:solidFill>
                  <a:srgbClr val="232933"/>
                </a:solidFill>
                <a:latin typeface="Calibri"/>
              </a:rPr>
              <a:t>cada linha da tabela é um município; cada coluna é uma informação dele. São dados reais, oficiais e do país inteiro — não é uma amostra pequena.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500" b="1" i="0">
                <a:solidFill>
                  <a:srgbClr val="FFFFFF"/>
                </a:solidFill>
                <a:latin typeface="Calibri"/>
              </a:rPr>
              <a:t>3. Os dados: como calculamos a taxa (o 'alvo')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55616E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 i="0">
                <a:solidFill>
                  <a:srgbClr val="232933"/>
                </a:solidFill>
                <a:latin typeface="Calibri"/>
              </a:rPr>
              <a:t>•  Taxa = pessoas de 15+ que sabem ler ÷ total de pessoas de 15+.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232933"/>
                </a:solidFill>
                <a:latin typeface="Calibri"/>
              </a:rPr>
              <a:t>•  Conferimos: nossa taxa nacional deu 93,2%...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55616E"/>
                </a:solidFill>
                <a:latin typeface="Calibri"/>
              </a:rPr>
              <a:t>      –  ...e bate com o número OFICIAL do IBGE (93%). ✔ Prova que calculamos certo.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572000"/>
            <a:ext cx="4937760" cy="1554480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bIns="109728" rtlCol="0" anchor="ctr"/>
          <a:lstStyle/>
          <a:p>
            <a:pPr algn="ctr"/>
            <a:r>
              <a:rPr sz="1500" b="1" i="0">
                <a:solidFill>
                  <a:srgbClr val="1F3A5F"/>
                </a:solidFill>
                <a:latin typeface="Calibri"/>
              </a:rPr>
              <a:t>🔍 Como ler: </a:t>
            </a:r>
            <a:r>
              <a:rPr sz="1500" b="0" i="0">
                <a:solidFill>
                  <a:srgbClr val="232933"/>
                </a:solidFill>
                <a:latin typeface="Calibri"/>
              </a:rPr>
              <a:t>cada barra mostra quantos municípios têm aquela taxa. A maioria fica entre 80% e 100%; a linha vermelha é a média do Brasil.</a:t>
            </a:r>
          </a:p>
        </p:txBody>
      </p:sp>
      <p:pic>
        <p:nvPicPr>
          <p:cNvPr id="7" name="Picture 6" descr="fi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828800"/>
            <a:ext cx="6309360" cy="35807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500" b="1" i="0">
                <a:solidFill>
                  <a:srgbClr val="FFFFFF"/>
                </a:solidFill>
                <a:latin typeface="Calibri"/>
              </a:rPr>
              <a:t>3. Os dados: o que já dá pra ver — a região pesa muito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55616E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 i="0">
                <a:solidFill>
                  <a:srgbClr val="232933"/>
                </a:solidFill>
                <a:latin typeface="Calibri"/>
              </a:rPr>
              <a:t>•  A alfabetização muda MUITO de região para região: Nordeste ≈ 80%  →  Sul ≈ 95%.</a:t>
            </a:r>
          </a:p>
        </p:txBody>
      </p:sp>
      <p:pic>
        <p:nvPicPr>
          <p:cNvPr id="6" name="Picture 5" descr="f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3640" y="1905957"/>
            <a:ext cx="7254240" cy="368616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5623560"/>
            <a:ext cx="10515600" cy="960120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bIns="109728" rtlCol="0" anchor="ctr"/>
          <a:lstStyle/>
          <a:p>
            <a:pPr algn="ctr"/>
            <a:r>
              <a:rPr sz="1500" b="1" i="0">
                <a:solidFill>
                  <a:srgbClr val="1F3A5F"/>
                </a:solidFill>
                <a:latin typeface="Calibri"/>
              </a:rPr>
              <a:t>🔍 Como ler: </a:t>
            </a:r>
            <a:r>
              <a:rPr sz="1500" b="0" i="0">
                <a:solidFill>
                  <a:srgbClr val="232933"/>
                </a:solidFill>
                <a:latin typeface="Calibri"/>
              </a:rPr>
              <a:t>cada caixa é uma região; a linha no meio é a taxa típica daquela região. Quanto mais em cima, maior a alfabetização. O Sul lidera, o Nordeste fica por último.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500" b="1" i="0">
                <a:solidFill>
                  <a:srgbClr val="FFFFFF"/>
                </a:solidFill>
                <a:latin typeface="Calibri"/>
              </a:rPr>
              <a:t>3. Os dados: o que o modelo 'olha' (as variáveis)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55616E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 i="0">
                <a:solidFill>
                  <a:srgbClr val="232933"/>
                </a:solidFill>
                <a:latin typeface="Calibri"/>
              </a:rPr>
              <a:t>•  Região — onde o município fica (a mais importante).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232933"/>
                </a:solidFill>
                <a:latin typeface="Calibri"/>
              </a:rPr>
              <a:t>•  Tamanho da população e densidade (hab/km²) — quão grande e urbano é.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232933"/>
                </a:solidFill>
                <a:latin typeface="Calibri"/>
              </a:rPr>
              <a:t>•  Estrutura etária — % de adultos com 60+ anos e % com 15-29 anos.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566160"/>
            <a:ext cx="11155680" cy="1188720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bIns="109728" rtlCol="0" anchor="ctr"/>
          <a:lstStyle/>
          <a:p>
            <a:pPr algn="ctr"/>
            <a:r>
              <a:rPr sz="1700" b="1" i="0">
                <a:solidFill>
                  <a:srgbClr val="1F3A5F"/>
                </a:solidFill>
                <a:latin typeface="Calibri"/>
              </a:rPr>
              <a:t>💡 Em palavras simples: </a:t>
            </a:r>
            <a:r>
              <a:rPr sz="1700" b="0" i="0">
                <a:solidFill>
                  <a:srgbClr val="232933"/>
                </a:solidFill>
                <a:latin typeface="Calibri"/>
              </a:rPr>
              <a:t>essas são as 'pistas' que o modelo recebe. Todas são fáceis de explicar — e nenhuma delas é a própria alfabetização (senão seria 'cola').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983480"/>
            <a:ext cx="11155680" cy="1188720"/>
          </a:xfrm>
          <a:prstGeom prst="roundRect">
            <a:avLst/>
          </a:prstGeom>
          <a:solidFill>
            <a:srgbClr val="E7F3EA"/>
          </a:solidFill>
          <a:ln w="15875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bIns="109728" rtlCol="0" anchor="ctr"/>
          <a:lstStyle/>
          <a:p>
            <a:pPr algn="ctr"/>
            <a:r>
              <a:rPr sz="1700" b="1" i="0">
                <a:solidFill>
                  <a:srgbClr val="2E7D46"/>
                </a:solidFill>
                <a:latin typeface="Calibri"/>
              </a:rPr>
              <a:t>⚠️ Por que não é trapaça: </a:t>
            </a:r>
            <a:r>
              <a:rPr sz="1700" b="0" i="0">
                <a:solidFill>
                  <a:srgbClr val="232933"/>
                </a:solidFill>
                <a:latin typeface="Calibri"/>
              </a:rPr>
              <a:t>as pistas descrevem o PERFIL do município (idade, tamanho, região), não quantas pessoas sabem ler. Por isso o modelo realmente APRENDE a relação, não recebe a resposta pronta.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500" b="1" i="0">
                <a:solidFill>
                  <a:srgbClr val="FFFFFF"/>
                </a:solidFill>
                <a:latin typeface="Calibri"/>
              </a:rPr>
              <a:t>4. O modelo: o que é uma rede neural (MLP)?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55616E"/>
                </a:solidFill>
                <a:latin typeface="Calibri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11155680" cy="1554480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bIns="109728" rtlCol="0" anchor="ctr"/>
          <a:lstStyle/>
          <a:p>
            <a:pPr algn="ctr"/>
            <a:r>
              <a:rPr sz="1700" b="1" i="0">
                <a:solidFill>
                  <a:srgbClr val="1F3A5F"/>
                </a:solidFill>
                <a:latin typeface="Calibri"/>
              </a:rPr>
              <a:t>💡 Em palavras simples: </a:t>
            </a:r>
            <a:r>
              <a:rPr sz="1700" b="0" i="0">
                <a:solidFill>
                  <a:srgbClr val="232933"/>
                </a:solidFill>
                <a:latin typeface="Calibri"/>
              </a:rPr>
              <a:t>uma rede neural é como um 'aluno' artificial. Ela recebe as pistas do município, combina essas pistas em várias etapas (camadas) e dá um palpite para a taxa. Mostrando milhares de municípios COM gabarito, ela vai ajustando-se sozinha até acertar o padrão.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 i="0">
                <a:solidFill>
                  <a:srgbClr val="232933"/>
                </a:solidFill>
                <a:latin typeface="Calibri"/>
              </a:rPr>
              <a:t>•  Usamos uma MLP (rede densa): pistas → camada de 64 → camada de 32 → palpite final.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232933"/>
                </a:solidFill>
                <a:latin typeface="Calibri"/>
              </a:rPr>
              <a:t>•  Cada 'camada' combina as informações de um jeito novo — é isso que deixa a rede esperta.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232933"/>
                </a:solidFill>
                <a:latin typeface="Calibri"/>
              </a:rPr>
              <a:t>•  É a arquitetura certa para dados em TABELA, como os nossos.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120640"/>
            <a:ext cx="11155680" cy="1097280"/>
          </a:xfrm>
          <a:prstGeom prst="roundRect">
            <a:avLst/>
          </a:prstGeom>
          <a:solidFill>
            <a:srgbClr val="E7F3EA"/>
          </a:solidFill>
          <a:ln w="15875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bIns="109728" rtlCol="0" anchor="ctr"/>
          <a:lstStyle/>
          <a:p>
            <a:pPr algn="ctr"/>
            <a:r>
              <a:rPr sz="1700" b="1" i="0">
                <a:solidFill>
                  <a:srgbClr val="2E7D46"/>
                </a:solidFill>
                <a:latin typeface="Calibri"/>
              </a:rPr>
              <a:t>🎓 Analogia: </a:t>
            </a:r>
            <a:r>
              <a:rPr sz="1700" b="0" i="0">
                <a:solidFill>
                  <a:srgbClr val="232933"/>
                </a:solidFill>
                <a:latin typeface="Calibri"/>
              </a:rPr>
              <a:t>é como um aluno que estuda milhares de municípios com a resposta no fim e aprende o padrão; depois consegue chutar bem a taxa de um município novo que nunca viu.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500" b="1" i="0">
                <a:solidFill>
                  <a:srgbClr val="FFFFFF"/>
                </a:solidFill>
                <a:latin typeface="Calibri"/>
              </a:rPr>
              <a:t>4. O modelo: o código que cria a rede e as camadas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55616E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 i="0">
                <a:solidFill>
                  <a:srgbClr val="232933"/>
                </a:solidFill>
                <a:latin typeface="Calibri"/>
              </a:rPr>
              <a:t>•  Em poucas linhas, criamos a rede e definimos suas camadas (com scikit-learn):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83080" y="1874519"/>
            <a:ext cx="8641080" cy="3200400"/>
          </a:xfrm>
          <a:prstGeom prst="roundRect">
            <a:avLst/>
          </a:prstGeom>
          <a:solidFill>
            <a:srgbClr val="1E2836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146304" rIns="182880" bIns="109728" rtlCol="0" anchor="ctr"/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E8EEF6"/>
                </a:solidFill>
                <a:latin typeface="Consolas"/>
              </a:rPr>
              <a:t>from sklearn.neural_network import MLPRegressor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E8EEF6"/>
                </a:solidFill>
                <a:latin typeface="Consolas"/>
              </a:rPr>
              <a:t>mlp = MLPRegressor(</a:t>
            </a:r>
          </a:p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2C94C"/>
                </a:solidFill>
                <a:latin typeface="Consolas"/>
              </a:rPr>
              <a:t>    hidden_layer_sizes=(64, 32),  </a:t>
            </a:r>
            <a:r>
              <a:rPr sz="1400" b="0" i="0">
                <a:solidFill>
                  <a:srgbClr val="9CCF9C"/>
                </a:solidFill>
                <a:latin typeface="Consolas"/>
              </a:rPr>
              <a:t># 2 camadas escondidas: 64 e 32 neuronios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E8EEF6"/>
                </a:solidFill>
                <a:latin typeface="Consolas"/>
              </a:rPr>
              <a:t>    activation="relu",            </a:t>
            </a:r>
            <a:r>
              <a:rPr sz="1400" b="0" i="0">
                <a:solidFill>
                  <a:srgbClr val="9CCF9C"/>
                </a:solidFill>
                <a:latin typeface="Consolas"/>
              </a:rPr>
              <a:t># ativacao ReLU (a nao-linearidade)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E8EEF6"/>
                </a:solidFill>
                <a:latin typeface="Consolas"/>
              </a:rPr>
              <a:t>    solver="adam",                </a:t>
            </a:r>
            <a:r>
              <a:rPr sz="1400" b="0" i="0">
                <a:solidFill>
                  <a:srgbClr val="9CCF9C"/>
                </a:solidFill>
                <a:latin typeface="Consolas"/>
              </a:rPr>
              <a:t># otimizador que ajusta os pesos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E8EEF6"/>
                </a:solidFill>
                <a:latin typeface="Consolas"/>
              </a:rPr>
              <a:t>    alpha=0.1,                    </a:t>
            </a:r>
            <a:r>
              <a:rPr sz="1400" b="0" i="0">
                <a:solidFill>
                  <a:srgbClr val="9CCF9C"/>
                </a:solidFill>
                <a:latin typeface="Consolas"/>
              </a:rPr>
              <a:t># regularizacao (evita 'decorar')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E8EEF6"/>
                </a:solidFill>
                <a:latin typeface="Consolas"/>
              </a:rPr>
              <a:t>    early_stopping=True,          </a:t>
            </a:r>
            <a:r>
              <a:rPr sz="1400" b="0" i="0">
                <a:solidFill>
                  <a:srgbClr val="9CCF9C"/>
                </a:solidFill>
                <a:latin typeface="Consolas"/>
              </a:rPr>
              <a:t># para sozinho quando para de melhorar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E8EEF6"/>
                </a:solidFill>
                <a:latin typeface="Consolas"/>
              </a:rPr>
              <a:t>    random_state=42,              </a:t>
            </a:r>
            <a:r>
              <a:rPr sz="1400" b="0" i="0">
                <a:solidFill>
                  <a:srgbClr val="9CCF9C"/>
                </a:solidFill>
                <a:latin typeface="Consolas"/>
              </a:rPr>
              <a:t># resultados sempre reproduziveis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E8EEF6"/>
                </a:solidFill>
                <a:latin typeface="Consolas"/>
              </a:rPr>
              <a:t>)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E8EEF6"/>
                </a:solidFill>
                <a:latin typeface="Consolas"/>
              </a:rPr>
              <a:t>mlp.fit(X_treino, y_treino)       </a:t>
            </a:r>
            <a:r>
              <a:rPr sz="1400" b="0" i="0">
                <a:solidFill>
                  <a:srgbClr val="9CCF9C"/>
                </a:solidFill>
                <a:latin typeface="Consolas"/>
              </a:rPr>
              <a:t># treina a rede com os dados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257800"/>
            <a:ext cx="10515600" cy="1143000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bIns="109728" rtlCol="0" anchor="ctr"/>
          <a:lstStyle/>
          <a:p>
            <a:pPr algn="ctr"/>
            <a:r>
              <a:rPr sz="1700" b="1" i="0">
                <a:solidFill>
                  <a:srgbClr val="1F3A5F"/>
                </a:solidFill>
                <a:latin typeface="Calibri"/>
              </a:rPr>
              <a:t>💡 A linha das camadas: </a:t>
            </a:r>
            <a:r>
              <a:rPr sz="1700" b="0" i="0">
                <a:solidFill>
                  <a:srgbClr val="232933"/>
                </a:solidFill>
                <a:latin typeface="Calibri"/>
              </a:rPr>
              <a:t>hidden_layer_sizes=(64, 32) é onde criamos as DUAS camadas escondidas — uma com 64 e outra com 32 neurônios. As outras linhas são só ajustes do treino.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500" b="1" i="0">
                <a:solidFill>
                  <a:srgbClr val="FFFFFF"/>
                </a:solidFill>
                <a:latin typeface="Calibri"/>
              </a:rPr>
              <a:t>4. O modelo: como treinamos (sem 'decorar')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55616E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 i="0">
                <a:solidFill>
                  <a:srgbClr val="232933"/>
                </a:solidFill>
                <a:latin typeface="Calibri"/>
              </a:rPr>
              <a:t>•  Treino/teste: o modelo aprende com 80% dos municípios e faz a 'prova' nos 20% que NUNCA viu.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232933"/>
                </a:solidFill>
                <a:latin typeface="Calibri"/>
              </a:rPr>
              <a:t>•  Padronização: pomos todas as pistas na mesma escala (pra nenhuma dominar injustamente).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232933"/>
                </a:solidFill>
                <a:latin typeface="Calibri"/>
              </a:rPr>
              <a:t>•  Freios contra 'decorar': regularização + parada antecipada (early stopping).</a:t>
            </a:r>
          </a:p>
        </p:txBody>
      </p:sp>
      <p:pic>
        <p:nvPicPr>
          <p:cNvPr id="6" name="Picture 5" descr="fi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06040"/>
            <a:ext cx="10304768" cy="308412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5989320"/>
            <a:ext cx="10515600" cy="731520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bIns="109728" rtlCol="0" anchor="ctr"/>
          <a:lstStyle/>
          <a:p>
            <a:pPr algn="ctr"/>
            <a:r>
              <a:rPr sz="1400" b="1" i="0">
                <a:solidFill>
                  <a:srgbClr val="1F3A5F"/>
                </a:solidFill>
                <a:latin typeface="Calibri"/>
              </a:rPr>
              <a:t>🔍 Como ler: </a:t>
            </a:r>
            <a:r>
              <a:rPr sz="1400" b="0" i="0">
                <a:solidFill>
                  <a:srgbClr val="232933"/>
                </a:solidFill>
                <a:latin typeface="Calibri"/>
              </a:rPr>
              <a:t>à esquerda o erro cai época após época; à direita o acerto sobe e estabiliza. Isso é um aprendizado saudável — a rede parou sozinha quando parou de melhorar.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500" b="1" i="0">
                <a:solidFill>
                  <a:srgbClr val="FFFFFF"/>
                </a:solidFill>
                <a:latin typeface="Calibri"/>
              </a:rPr>
              <a:t>4. O modelo: por que MLP e não CNN ou RNN?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55616E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 i="0">
                <a:solidFill>
                  <a:srgbClr val="232933"/>
                </a:solidFill>
                <a:latin typeface="Calibri"/>
              </a:rPr>
              <a:t>•  CNN foi feita para IMAGENS (pixels vizinhos). Nossos dados são uma tabela, não uma imagem.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232933"/>
                </a:solidFill>
                <a:latin typeface="Calibri"/>
              </a:rPr>
              <a:t>•  RNN foi feita para SEQUÊNCIAS/tempo. Temos um único ano (2022), sem linha do tempo.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232933"/>
                </a:solidFill>
                <a:latin typeface="Calibri"/>
              </a:rPr>
              <a:t>•  MLP é a rede certa para dados em tabela — por isso a escolhemos.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0"/>
            <a:ext cx="11155680" cy="1280160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bIns="109728" rtlCol="0" anchor="ctr"/>
          <a:lstStyle/>
          <a:p>
            <a:pPr algn="ctr"/>
            <a:r>
              <a:rPr sz="1700" b="1" i="0">
                <a:solidFill>
                  <a:srgbClr val="1F3A5F"/>
                </a:solidFill>
                <a:latin typeface="Calibri"/>
              </a:rPr>
              <a:t>💡 Em palavras simples: </a:t>
            </a:r>
            <a:r>
              <a:rPr sz="1700" b="0" i="0">
                <a:solidFill>
                  <a:srgbClr val="232933"/>
                </a:solidFill>
                <a:latin typeface="Calibri"/>
              </a:rPr>
              <a:t>usar CNN ou RNN aqui seria como usar a ferramenta errada para o serviço. Escolher a rede CERTA para o tipo de dado é mais maduro do que usar a 'mais famosa'.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500" b="1" i="0">
                <a:solidFill>
                  <a:srgbClr val="FFFFFF"/>
                </a:solidFill>
                <a:latin typeface="Calibri"/>
              </a:rPr>
              <a:t>5. As métricas: como medimos se deu certo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55616E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 i="0">
                <a:solidFill>
                  <a:srgbClr val="232933"/>
                </a:solidFill>
                <a:latin typeface="Calibri"/>
              </a:rPr>
              <a:t>•  R² — uma 'nota' de 0 a 100%: o quanto o modelo explica o padrão (0 = chute; 100% = perfeito).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232933"/>
                </a:solidFill>
                <a:latin typeface="Calibri"/>
              </a:rPr>
              <a:t>•  MAE — em média, quantos pontos o palpite erra (quanto menor, melhor).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232933"/>
                </a:solidFill>
                <a:latin typeface="Calibri"/>
              </a:rPr>
              <a:t>•  Comparamos a rede contra modelos simples ('baselines') — a régua que ela precisa vencer.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657600"/>
            <a:ext cx="11155680" cy="1371600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bIns="109728" rtlCol="0" anchor="ctr"/>
          <a:lstStyle/>
          <a:p>
            <a:pPr algn="ctr"/>
            <a:r>
              <a:rPr sz="1700" b="1" i="0">
                <a:solidFill>
                  <a:srgbClr val="1F3A5F"/>
                </a:solidFill>
                <a:latin typeface="Calibri"/>
              </a:rPr>
              <a:t>💡 Em palavras simples: </a:t>
            </a:r>
            <a:r>
              <a:rPr sz="1700" b="0" i="0">
                <a:solidFill>
                  <a:srgbClr val="232933"/>
                </a:solidFill>
                <a:latin typeface="Calibri"/>
              </a:rPr>
              <a:t>sozinho, um número de acerto não diz nada. Por isso criamos 'réguas' simples (chutar a média; chutar a média da região; uma reta) — a rede só vale a pena se vencer todas.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500" b="1" i="0">
                <a:solidFill>
                  <a:srgbClr val="FFFFFF"/>
                </a:solidFill>
                <a:latin typeface="Calibri"/>
              </a:rPr>
              <a:t>6. Demonstração: a rede venceu as 'réguas'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55616E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 i="0">
                <a:solidFill>
                  <a:srgbClr val="232933"/>
                </a:solidFill>
                <a:latin typeface="Calibri"/>
              </a:rPr>
              <a:t>•  R² (nota de 0 a 1):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55616E"/>
                </a:solidFill>
                <a:latin typeface="Calibri"/>
              </a:rPr>
              <a:t>      –  Chutar a média: 0,00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55616E"/>
                </a:solidFill>
                <a:latin typeface="Calibri"/>
              </a:rPr>
              <a:t>      –  Média da região: 0,69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55616E"/>
                </a:solidFill>
                <a:latin typeface="Calibri"/>
              </a:rPr>
              <a:t>      –  Reta (linear): 0,76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55616E"/>
                </a:solidFill>
                <a:latin typeface="Calibri"/>
              </a:rPr>
              <a:t>      –  REDE NEURAL: 0,80  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754880"/>
            <a:ext cx="4572000" cy="1371600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bIns="109728" rtlCol="0" anchor="ctr"/>
          <a:lstStyle/>
          <a:p>
            <a:pPr algn="ctr"/>
            <a:r>
              <a:rPr sz="1500" b="1" i="0">
                <a:solidFill>
                  <a:srgbClr val="1F3A5F"/>
                </a:solidFill>
                <a:latin typeface="Calibri"/>
              </a:rPr>
              <a:t>🔍 Como ler: </a:t>
            </a:r>
            <a:r>
              <a:rPr sz="1500" b="0" i="0">
                <a:solidFill>
                  <a:srgbClr val="232933"/>
                </a:solidFill>
                <a:latin typeface="Calibri"/>
              </a:rPr>
              <a:t>cada barra é um modelo; quanto mais alta, melhor. A rede neural (última) é a mais alta.</a:t>
            </a:r>
          </a:p>
        </p:txBody>
      </p:sp>
      <p:pic>
        <p:nvPicPr>
          <p:cNvPr id="7" name="Picture 6" descr="fig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737360"/>
            <a:ext cx="6400800" cy="334713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500" b="1" i="0">
                <a:solidFill>
                  <a:srgbClr val="FFFFFF"/>
                </a:solidFill>
                <a:latin typeface="Calibri"/>
              </a:rPr>
              <a:t>6. Demonstração: o modelo acertando município a município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55616E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5852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 i="0">
                <a:solidFill>
                  <a:srgbClr val="232933"/>
                </a:solidFill>
                <a:latin typeface="Calibri"/>
              </a:rPr>
              <a:t>•  Cada ponto é um município.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232933"/>
                </a:solidFill>
                <a:latin typeface="Calibri"/>
              </a:rPr>
              <a:t>•  Quanto mais perto da linha vermelha, melhor o acerto.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232933"/>
                </a:solidFill>
                <a:latin typeface="Calibri"/>
              </a:rPr>
              <a:t>•  Erro médio de só ~2,6 pontos percentuais.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931920"/>
            <a:ext cx="5852160" cy="1828800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bIns="109728" rtlCol="0" anchor="ctr"/>
          <a:lstStyle/>
          <a:p>
            <a:pPr algn="ctr"/>
            <a:r>
              <a:rPr sz="1500" b="1" i="0">
                <a:solidFill>
                  <a:srgbClr val="1F3A5F"/>
                </a:solidFill>
                <a:latin typeface="Calibri"/>
              </a:rPr>
              <a:t>🔍 Como ler: </a:t>
            </a:r>
            <a:r>
              <a:rPr sz="1500" b="0" i="0">
                <a:solidFill>
                  <a:srgbClr val="232933"/>
                </a:solidFill>
                <a:latin typeface="Calibri"/>
              </a:rPr>
              <a:t>eixo horizontal = taxa REAL; vertical = taxa PREVISTA. Se fossem iguais, o ponto cai na linha. A nuvem está bem colada na linha = bons palpites.</a:t>
            </a:r>
          </a:p>
        </p:txBody>
      </p:sp>
      <p:pic>
        <p:nvPicPr>
          <p:cNvPr id="7" name="Picture 6" descr="fig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463040"/>
            <a:ext cx="4297680" cy="43119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500" b="1" i="0">
                <a:solidFill>
                  <a:srgbClr val="FFFFFF"/>
                </a:solidFill>
                <a:latin typeface="Calibri"/>
              </a:rPr>
              <a:t>6. Demonstração: o que mais explica a alfabetização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55616E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 i="0">
                <a:solidFill>
                  <a:srgbClr val="232933"/>
                </a:solidFill>
                <a:latin typeface="Calibri"/>
              </a:rPr>
              <a:t>•  Descobrimos o que o modelo mais usa 'bagunçando' uma pista por vez e vendo o quanto ele piora.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232933"/>
                </a:solidFill>
                <a:latin typeface="Calibri"/>
              </a:rPr>
              <a:t>•  Resultado: a REGIÃO domina, depois a estrutura de idade, e por fim tamanho/densidade.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572000"/>
            <a:ext cx="4846320" cy="1463040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bIns="109728" rtlCol="0" anchor="ctr"/>
          <a:lstStyle/>
          <a:p>
            <a:pPr algn="ctr"/>
            <a:r>
              <a:rPr sz="1500" b="1" i="0">
                <a:solidFill>
                  <a:srgbClr val="1F3A5F"/>
                </a:solidFill>
                <a:latin typeface="Calibri"/>
              </a:rPr>
              <a:t>🔍 Como ler: </a:t>
            </a:r>
            <a:r>
              <a:rPr sz="1500" b="0" i="0">
                <a:solidFill>
                  <a:srgbClr val="232933"/>
                </a:solidFill>
                <a:latin typeface="Calibri"/>
              </a:rPr>
              <a:t>quanto mais comprida a barra, mais o modelo depende daquela pista. Região no topo.</a:t>
            </a:r>
          </a:p>
        </p:txBody>
      </p:sp>
      <p:pic>
        <p:nvPicPr>
          <p:cNvPr id="7" name="Picture 6" descr="fig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737360"/>
            <a:ext cx="6400800" cy="395037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500" b="1" i="0">
                <a:solidFill>
                  <a:srgbClr val="FFFFFF"/>
                </a:solidFill>
                <a:latin typeface="Calibri"/>
              </a:rPr>
              <a:t>7. Conclusões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55616E"/>
                </a:solidFill>
                <a:latin typeface="Calibr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 i="0">
                <a:solidFill>
                  <a:srgbClr val="232933"/>
                </a:solidFill>
                <a:latin typeface="Calibri"/>
              </a:rPr>
              <a:t>•  A alfabetização no Brasil é fortemente regional (Nordeste ~80% → Sul ~95%).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232933"/>
                </a:solidFill>
                <a:latin typeface="Calibri"/>
              </a:rPr>
              <a:t>•  Com o perfil do município, prevemos a taxa com boa precisão (R² ≈ 0,80).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232933"/>
                </a:solidFill>
                <a:latin typeface="Calibri"/>
              </a:rPr>
              <a:t>•  A rede neural superou os modelos simples — capturou padrões que uma reta não pega.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232933"/>
                </a:solidFill>
                <a:latin typeface="Calibri"/>
              </a:rPr>
              <a:t>•  Os fatores que mais pesam: região e estrutura de idade.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023360"/>
            <a:ext cx="11155680" cy="1463040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bIns="109728" rtlCol="0" anchor="ctr"/>
          <a:lstStyle/>
          <a:p>
            <a:pPr algn="ctr"/>
            <a:r>
              <a:rPr sz="1700" b="1" i="0">
                <a:solidFill>
                  <a:srgbClr val="1F3A5F"/>
                </a:solidFill>
                <a:latin typeface="Calibri"/>
              </a:rPr>
              <a:t>⚖️ Sendo honestos (limitações): </a:t>
            </a:r>
            <a:r>
              <a:rPr sz="1700" b="0" i="0">
                <a:solidFill>
                  <a:srgbClr val="232933"/>
                </a:solidFill>
                <a:latin typeface="Calibri"/>
              </a:rPr>
              <a:t>é um retrato de um ano só (2022); descreve, não prova causa; e vale para municípios, não para pessoas. Próximos passos: mais dados (renda, saneamento) e comparar com outros modelos.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 dirty="0" err="1">
                <a:solidFill>
                  <a:srgbClr val="FFFFFF"/>
                </a:solidFill>
                <a:latin typeface="Calibri"/>
              </a:rPr>
              <a:t>Obrigado</a:t>
            </a:r>
            <a:r>
              <a:rPr sz="4000" b="1" i="0">
                <a:solidFill>
                  <a:srgbClr val="FFFFFF"/>
                </a:solidFill>
                <a:latin typeface="Calibri"/>
              </a:rPr>
              <a:t>!</a:t>
            </a:r>
            <a:endParaRPr sz="4000" b="1" i="0" dirty="0">
              <a:solidFill>
                <a:srgbClr val="FFFFFF"/>
              </a:solidFill>
              <a:latin typeface="Calibri"/>
            </a:endParaRPr>
          </a:p>
          <a:p>
            <a:r>
              <a:rPr sz="1800" b="0" i="0" dirty="0">
                <a:solidFill>
                  <a:srgbClr val="CFDCEC"/>
                </a:solidFill>
                <a:latin typeface="Calibri"/>
              </a:rPr>
              <a:t>Cesar Fonseca · Matheus Lima</a:t>
            </a:r>
            <a:br>
              <a:rPr lang="pt-BR" sz="1800" b="0" i="0" dirty="0">
                <a:solidFill>
                  <a:srgbClr val="CFDCEC"/>
                </a:solidFill>
                <a:latin typeface="Calibri"/>
              </a:rPr>
            </a:br>
            <a:r>
              <a:rPr sz="1500" b="0" i="1" dirty="0" err="1">
                <a:solidFill>
                  <a:srgbClr val="AEC0D8"/>
                </a:solidFill>
                <a:latin typeface="Calibri"/>
              </a:rPr>
              <a:t>Demonstração</a:t>
            </a:r>
            <a:r>
              <a:rPr sz="1500" b="0" i="1" dirty="0">
                <a:solidFill>
                  <a:srgbClr val="AEC0D8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AEC0D8"/>
                </a:solidFill>
                <a:latin typeface="Calibri"/>
              </a:rPr>
              <a:t>ao</a:t>
            </a:r>
            <a:r>
              <a:rPr sz="1500" b="0" i="1" dirty="0">
                <a:solidFill>
                  <a:srgbClr val="AEC0D8"/>
                </a:solidFill>
                <a:latin typeface="Calibri"/>
              </a:rPr>
              <a:t> vivo </a:t>
            </a:r>
            <a:r>
              <a:rPr sz="1500" b="0" i="1" dirty="0" err="1">
                <a:solidFill>
                  <a:srgbClr val="AEC0D8"/>
                </a:solidFill>
                <a:latin typeface="Calibri"/>
              </a:rPr>
              <a:t>disponível</a:t>
            </a:r>
            <a:r>
              <a:rPr sz="1500" b="0" i="1" dirty="0">
                <a:solidFill>
                  <a:srgbClr val="AEC0D8"/>
                </a:solidFill>
                <a:latin typeface="Calibri"/>
              </a:rPr>
              <a:t> no notebook </a:t>
            </a:r>
            <a:r>
              <a:rPr sz="1500" b="0" i="1" dirty="0" err="1">
                <a:solidFill>
                  <a:srgbClr val="AEC0D8"/>
                </a:solidFill>
                <a:latin typeface="Calibri"/>
              </a:rPr>
              <a:t>Rede_Neural_Final.ipynb</a:t>
            </a:r>
            <a:endParaRPr sz="1500" b="0" i="1" dirty="0">
              <a:solidFill>
                <a:srgbClr val="AEC0D8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2839</Words>
  <Application>Microsoft Office PowerPoint</Application>
  <PresentationFormat>Widescreen</PresentationFormat>
  <Paragraphs>137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Paulo Cesar</cp:lastModifiedBy>
  <cp:revision>3</cp:revision>
  <dcterms:created xsi:type="dcterms:W3CDTF">2013-01-27T09:14:16Z</dcterms:created>
  <dcterms:modified xsi:type="dcterms:W3CDTF">2026-06-17T01:59:09Z</dcterms:modified>
  <cp:category/>
</cp:coreProperties>
</file>